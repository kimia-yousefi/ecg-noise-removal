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6"/>
  </p:notesMasterIdLst>
  <p:sldIdLst>
    <p:sldId id="375" r:id="rId2"/>
    <p:sldId id="378" r:id="rId3"/>
    <p:sldId id="376" r:id="rId4"/>
    <p:sldId id="377" r:id="rId5"/>
    <p:sldId id="388" r:id="rId6"/>
    <p:sldId id="382" r:id="rId7"/>
    <p:sldId id="383" r:id="rId8"/>
    <p:sldId id="384" r:id="rId9"/>
    <p:sldId id="385" r:id="rId10"/>
    <p:sldId id="386" r:id="rId11"/>
    <p:sldId id="387" r:id="rId12"/>
    <p:sldId id="389" r:id="rId13"/>
    <p:sldId id="390" r:id="rId14"/>
    <p:sldId id="391" r:id="rId15"/>
    <p:sldId id="393" r:id="rId16"/>
    <p:sldId id="394" r:id="rId17"/>
    <p:sldId id="395" r:id="rId18"/>
    <p:sldId id="392" r:id="rId19"/>
    <p:sldId id="396" r:id="rId20"/>
    <p:sldId id="397" r:id="rId21"/>
    <p:sldId id="399" r:id="rId22"/>
    <p:sldId id="400" r:id="rId23"/>
    <p:sldId id="401" r:id="rId24"/>
    <p:sldId id="402" r:id="rId25"/>
    <p:sldId id="404" r:id="rId26"/>
    <p:sldId id="403" r:id="rId27"/>
    <p:sldId id="405" r:id="rId28"/>
    <p:sldId id="406" r:id="rId29"/>
    <p:sldId id="407" r:id="rId30"/>
    <p:sldId id="408" r:id="rId31"/>
    <p:sldId id="398" r:id="rId32"/>
    <p:sldId id="379" r:id="rId33"/>
    <p:sldId id="374" r:id="rId34"/>
    <p:sldId id="277" r:id="rId3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Karla" pitchFamily="2" charset="0"/>
      <p:regular r:id="rId38"/>
      <p:bold r:id="rId39"/>
      <p:italic r:id="rId40"/>
      <p:boldItalic r:id="rId41"/>
    </p:embeddedFont>
    <p:embeddedFont>
      <p:font typeface="Outfit ExtraBold" panose="020B0604020202020204" charset="0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FE977B-A532-4E9C-A0AB-092D649B8DFB}">
  <a:tblStyle styleId="{05FE977B-A532-4E9C-A0AB-092D649B8D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1" autoAdjust="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145c251fee2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145c251fee2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1509150" y="1579650"/>
            <a:ext cx="61257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417083" y="-284737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223582" y="-250668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535187" y="79637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259598" y="-290671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123402" y="-2226216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657881" y="-1691735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-235719" y="-769590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06734" y="-274495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647991" y="42472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-177263" y="3486824"/>
            <a:ext cx="447489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139201" y="4777769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-1111830" y="260133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704630" y="50142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600371" y="4541375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600384" y="1005803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37655" y="4746980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768185" y="3161119"/>
            <a:ext cx="749038" cy="680672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-805274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125126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-2019548" y="4190684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22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/>
          <p:nvPr/>
        </p:nvSpPr>
        <p:spPr>
          <a:xfrm flipH="1">
            <a:off x="-2721555" y="-2102391"/>
            <a:ext cx="3649504" cy="3649821"/>
          </a:xfrm>
          <a:custGeom>
            <a:avLst/>
            <a:gdLst/>
            <a:ahLst/>
            <a:cxnLst/>
            <a:rect l="l" t="t" r="r" b="b"/>
            <a:pathLst>
              <a:path w="15104" h="15105" extrusionOk="0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0"/>
          <p:cNvSpPr/>
          <p:nvPr/>
        </p:nvSpPr>
        <p:spPr>
          <a:xfrm flipH="1">
            <a:off x="-2187327" y="-1567910"/>
            <a:ext cx="2580797" cy="2580608"/>
          </a:xfrm>
          <a:custGeom>
            <a:avLst/>
            <a:gdLst/>
            <a:ahLst/>
            <a:cxnLst/>
            <a:rect l="l" t="t" r="r" b="b"/>
            <a:pathLst>
              <a:path w="10681" h="10680" extrusionOk="0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0"/>
          <p:cNvSpPr/>
          <p:nvPr/>
        </p:nvSpPr>
        <p:spPr>
          <a:xfrm flipH="1">
            <a:off x="-279823" y="3843106"/>
            <a:ext cx="485425" cy="425027"/>
          </a:xfrm>
          <a:custGeom>
            <a:avLst/>
            <a:gdLst/>
            <a:ahLst/>
            <a:cxnLst/>
            <a:rect l="l" t="t" r="r" b="b"/>
            <a:pathLst>
              <a:path w="2009" h="1759" extrusionOk="0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0"/>
          <p:cNvSpPr/>
          <p:nvPr/>
        </p:nvSpPr>
        <p:spPr>
          <a:xfrm flipH="1">
            <a:off x="7488655" y="-645765"/>
            <a:ext cx="1798415" cy="1638493"/>
          </a:xfrm>
          <a:custGeom>
            <a:avLst/>
            <a:gdLst/>
            <a:ahLst/>
            <a:cxnLst/>
            <a:rect l="l" t="t" r="r" b="b"/>
            <a:pathLst>
              <a:path w="7443" h="6781" extrusionOk="0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0"/>
          <p:cNvSpPr/>
          <p:nvPr/>
        </p:nvSpPr>
        <p:spPr>
          <a:xfrm flipH="1">
            <a:off x="8034723" y="-150670"/>
            <a:ext cx="709894" cy="645394"/>
          </a:xfrm>
          <a:custGeom>
            <a:avLst/>
            <a:gdLst/>
            <a:ahLst/>
            <a:cxnLst/>
            <a:rect l="l" t="t" r="r" b="b"/>
            <a:pathLst>
              <a:path w="2938" h="2671" extrusionOk="0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0"/>
          <p:cNvSpPr/>
          <p:nvPr/>
        </p:nvSpPr>
        <p:spPr>
          <a:xfrm flipH="1">
            <a:off x="8599420" y="3907134"/>
            <a:ext cx="687665" cy="625580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0"/>
          <p:cNvSpPr/>
          <p:nvPr/>
        </p:nvSpPr>
        <p:spPr>
          <a:xfrm flipH="1">
            <a:off x="7316868" y="4913895"/>
            <a:ext cx="437341" cy="406663"/>
          </a:xfrm>
          <a:custGeom>
            <a:avLst/>
            <a:gdLst/>
            <a:ahLst/>
            <a:cxnLst/>
            <a:rect l="l" t="t" r="r" b="b"/>
            <a:pathLst>
              <a:path w="1810" h="1683" extrusionOk="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0"/>
          <p:cNvSpPr/>
          <p:nvPr/>
        </p:nvSpPr>
        <p:spPr>
          <a:xfrm flipH="1">
            <a:off x="8839575" y="3039924"/>
            <a:ext cx="447490" cy="406905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0"/>
          <p:cNvSpPr/>
          <p:nvPr/>
        </p:nvSpPr>
        <p:spPr>
          <a:xfrm flipH="1">
            <a:off x="8034713" y="3446834"/>
            <a:ext cx="461745" cy="406905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0"/>
          <p:cNvSpPr/>
          <p:nvPr/>
        </p:nvSpPr>
        <p:spPr>
          <a:xfrm flipH="1">
            <a:off x="7848606" y="4253881"/>
            <a:ext cx="293333" cy="267243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0"/>
          <p:cNvSpPr/>
          <p:nvPr/>
        </p:nvSpPr>
        <p:spPr>
          <a:xfrm flipH="1">
            <a:off x="6734620" y="4665194"/>
            <a:ext cx="213355" cy="182914"/>
          </a:xfrm>
          <a:custGeom>
            <a:avLst/>
            <a:gdLst/>
            <a:ahLst/>
            <a:cxnLst/>
            <a:rect l="l" t="t" r="r" b="b"/>
            <a:pathLst>
              <a:path w="883" h="757" extrusionOk="0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0"/>
          <p:cNvSpPr/>
          <p:nvPr/>
        </p:nvSpPr>
        <p:spPr>
          <a:xfrm flipH="1">
            <a:off x="3324439" y="284637"/>
            <a:ext cx="213838" cy="182914"/>
          </a:xfrm>
          <a:custGeom>
            <a:avLst/>
            <a:gdLst/>
            <a:ahLst/>
            <a:cxnLst/>
            <a:rect l="l" t="t" r="r" b="b"/>
            <a:pathLst>
              <a:path w="885" h="757" extrusionOk="0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0"/>
          <p:cNvSpPr/>
          <p:nvPr/>
        </p:nvSpPr>
        <p:spPr>
          <a:xfrm flipH="1">
            <a:off x="8200461" y="383958"/>
            <a:ext cx="1962720" cy="1788304"/>
          </a:xfrm>
          <a:custGeom>
            <a:avLst/>
            <a:gdLst/>
            <a:ahLst/>
            <a:cxnLst/>
            <a:rect l="l" t="t" r="r" b="b"/>
            <a:pathLst>
              <a:path w="8123" h="7401" extrusionOk="0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0"/>
          <p:cNvSpPr/>
          <p:nvPr/>
        </p:nvSpPr>
        <p:spPr>
          <a:xfrm flipH="1">
            <a:off x="262355" y="4422434"/>
            <a:ext cx="491465" cy="491475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0"/>
          <p:cNvSpPr/>
          <p:nvPr/>
        </p:nvSpPr>
        <p:spPr>
          <a:xfrm flipH="1">
            <a:off x="-854520" y="4665200"/>
            <a:ext cx="1305500" cy="1305527"/>
          </a:xfrm>
          <a:custGeom>
            <a:avLst/>
            <a:gdLst/>
            <a:ahLst/>
            <a:cxnLst/>
            <a:rect l="l" t="t" r="r" b="b"/>
            <a:pathLst>
              <a:path w="5403" h="5403" extrusionOk="0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0"/>
          <p:cNvSpPr/>
          <p:nvPr/>
        </p:nvSpPr>
        <p:spPr>
          <a:xfrm flipH="1">
            <a:off x="-592128" y="1129628"/>
            <a:ext cx="1043095" cy="1042633"/>
          </a:xfrm>
          <a:custGeom>
            <a:avLst/>
            <a:gdLst/>
            <a:ahLst/>
            <a:cxnLst/>
            <a:rect l="l" t="t" r="r" b="b"/>
            <a:pathLst>
              <a:path w="4317" h="4315" extrusionOk="0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0"/>
          <p:cNvSpPr/>
          <p:nvPr/>
        </p:nvSpPr>
        <p:spPr>
          <a:xfrm flipH="1">
            <a:off x="4191370" y="-160912"/>
            <a:ext cx="442899" cy="443149"/>
          </a:xfrm>
          <a:custGeom>
            <a:avLst/>
            <a:gdLst/>
            <a:ahLst/>
            <a:cxnLst/>
            <a:rect l="l" t="t" r="r" b="b"/>
            <a:pathLst>
              <a:path w="1833" h="1834" extrusionOk="0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0"/>
          <p:cNvSpPr/>
          <p:nvPr/>
        </p:nvSpPr>
        <p:spPr>
          <a:xfrm flipH="1">
            <a:off x="1227331" y="-126843"/>
            <a:ext cx="600438" cy="600692"/>
          </a:xfrm>
          <a:custGeom>
            <a:avLst/>
            <a:gdLst/>
            <a:ahLst/>
            <a:cxnLst/>
            <a:rect l="l" t="t" r="r" b="b"/>
            <a:pathLst>
              <a:path w="2485" h="2486" extrusionOk="0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0"/>
          <p:cNvSpPr/>
          <p:nvPr/>
        </p:nvSpPr>
        <p:spPr>
          <a:xfrm flipH="1">
            <a:off x="2170882" y="203462"/>
            <a:ext cx="345282" cy="345289"/>
          </a:xfrm>
          <a:custGeom>
            <a:avLst/>
            <a:gdLst/>
            <a:ahLst/>
            <a:cxnLst/>
            <a:rect l="l" t="t" r="r" b="b"/>
            <a:pathLst>
              <a:path w="1429" h="1429" extrusionOk="0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0"/>
          <p:cNvSpPr/>
          <p:nvPr/>
        </p:nvSpPr>
        <p:spPr>
          <a:xfrm flipH="1">
            <a:off x="352529" y="252305"/>
            <a:ext cx="772717" cy="680913"/>
          </a:xfrm>
          <a:custGeom>
            <a:avLst/>
            <a:gdLst/>
            <a:ahLst/>
            <a:cxnLst/>
            <a:rect l="l" t="t" r="r" b="b"/>
            <a:pathLst>
              <a:path w="3198" h="2818" extrusionOk="0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0"/>
          <p:cNvSpPr/>
          <p:nvPr/>
        </p:nvSpPr>
        <p:spPr>
          <a:xfrm flipH="1">
            <a:off x="6042957" y="-166846"/>
            <a:ext cx="748796" cy="680672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0"/>
          <p:cNvSpPr/>
          <p:nvPr/>
        </p:nvSpPr>
        <p:spPr>
          <a:xfrm flipH="1">
            <a:off x="4125126" y="103252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0"/>
          <p:cNvSpPr/>
          <p:nvPr/>
        </p:nvSpPr>
        <p:spPr>
          <a:xfrm flipH="1">
            <a:off x="-805274" y="4318577"/>
            <a:ext cx="5518357" cy="680924"/>
          </a:xfrm>
          <a:custGeom>
            <a:avLst/>
            <a:gdLst/>
            <a:ahLst/>
            <a:cxnLst/>
            <a:rect l="l" t="t" r="r" b="b"/>
            <a:pathLst>
              <a:path w="52006" h="6417" extrusionOk="0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23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"/>
          <p:cNvSpPr/>
          <p:nvPr/>
        </p:nvSpPr>
        <p:spPr>
          <a:xfrm flipH="1">
            <a:off x="-2248105" y="4152893"/>
            <a:ext cx="3549666" cy="3549666"/>
          </a:xfrm>
          <a:custGeom>
            <a:avLst/>
            <a:gdLst/>
            <a:ahLst/>
            <a:cxnLst/>
            <a:rect l="l" t="t" r="r" b="b"/>
            <a:pathLst>
              <a:path w="22225" h="22225" extrusionOk="0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1"/>
          <p:cNvSpPr/>
          <p:nvPr/>
        </p:nvSpPr>
        <p:spPr>
          <a:xfrm flipH="1">
            <a:off x="8009067" y="4716060"/>
            <a:ext cx="1649377" cy="1649377"/>
          </a:xfrm>
          <a:custGeom>
            <a:avLst/>
            <a:gdLst/>
            <a:ahLst/>
            <a:cxnLst/>
            <a:rect l="l" t="t" r="r" b="b"/>
            <a:pathLst>
              <a:path w="10327" h="10327" extrusionOk="0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1"/>
          <p:cNvSpPr/>
          <p:nvPr/>
        </p:nvSpPr>
        <p:spPr>
          <a:xfrm flipH="1">
            <a:off x="8303595" y="5147873"/>
            <a:ext cx="1166399" cy="1166558"/>
          </a:xfrm>
          <a:custGeom>
            <a:avLst/>
            <a:gdLst/>
            <a:ahLst/>
            <a:cxnLst/>
            <a:rect l="l" t="t" r="r" b="b"/>
            <a:pathLst>
              <a:path w="7303" h="7304" extrusionOk="0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1"/>
          <p:cNvSpPr/>
          <p:nvPr/>
        </p:nvSpPr>
        <p:spPr>
          <a:xfrm flipH="1">
            <a:off x="-258197" y="-1098080"/>
            <a:ext cx="1435039" cy="1368119"/>
          </a:xfrm>
          <a:custGeom>
            <a:avLst/>
            <a:gdLst/>
            <a:ahLst/>
            <a:cxnLst/>
            <a:rect l="l" t="t" r="r" b="b"/>
            <a:pathLst>
              <a:path w="8985" h="8566" extrusionOk="0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1"/>
          <p:cNvSpPr/>
          <p:nvPr/>
        </p:nvSpPr>
        <p:spPr>
          <a:xfrm flipH="1">
            <a:off x="525529" y="-195863"/>
            <a:ext cx="465889" cy="465889"/>
          </a:xfrm>
          <a:custGeom>
            <a:avLst/>
            <a:gdLst/>
            <a:ahLst/>
            <a:cxnLst/>
            <a:rect l="l" t="t" r="r" b="b"/>
            <a:pathLst>
              <a:path w="2917" h="2917" extrusionOk="0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1"/>
          <p:cNvSpPr/>
          <p:nvPr/>
        </p:nvSpPr>
        <p:spPr>
          <a:xfrm flipH="1">
            <a:off x="8372512" y="-132989"/>
            <a:ext cx="454549" cy="413502"/>
          </a:xfrm>
          <a:custGeom>
            <a:avLst/>
            <a:gdLst/>
            <a:ahLst/>
            <a:cxnLst/>
            <a:rect l="l" t="t" r="r" b="b"/>
            <a:pathLst>
              <a:path w="2846" h="2589" extrusionOk="0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1"/>
          <p:cNvSpPr/>
          <p:nvPr/>
        </p:nvSpPr>
        <p:spPr>
          <a:xfrm flipH="1">
            <a:off x="-118919" y="4040307"/>
            <a:ext cx="295792" cy="268960"/>
          </a:xfrm>
          <a:custGeom>
            <a:avLst/>
            <a:gdLst/>
            <a:ahLst/>
            <a:cxnLst/>
            <a:rect l="l" t="t" r="r" b="b"/>
            <a:pathLst>
              <a:path w="1852" h="1684" extrusionOk="0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1"/>
          <p:cNvSpPr/>
          <p:nvPr/>
        </p:nvSpPr>
        <p:spPr>
          <a:xfrm flipH="1">
            <a:off x="306711" y="4285233"/>
            <a:ext cx="305215" cy="268960"/>
          </a:xfrm>
          <a:custGeom>
            <a:avLst/>
            <a:gdLst/>
            <a:ahLst/>
            <a:cxnLst/>
            <a:rect l="l" t="t" r="r" b="b"/>
            <a:pathLst>
              <a:path w="1911" h="1684" extrusionOk="0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1"/>
          <p:cNvSpPr/>
          <p:nvPr/>
        </p:nvSpPr>
        <p:spPr>
          <a:xfrm flipH="1">
            <a:off x="8273796" y="395982"/>
            <a:ext cx="193894" cy="176645"/>
          </a:xfrm>
          <a:custGeom>
            <a:avLst/>
            <a:gdLst/>
            <a:ahLst/>
            <a:cxnLst/>
            <a:rect l="l" t="t" r="r" b="b"/>
            <a:pathLst>
              <a:path w="1214" h="1106" extrusionOk="0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1"/>
          <p:cNvSpPr/>
          <p:nvPr/>
        </p:nvSpPr>
        <p:spPr>
          <a:xfrm flipH="1">
            <a:off x="8885669" y="416641"/>
            <a:ext cx="324860" cy="324860"/>
          </a:xfrm>
          <a:custGeom>
            <a:avLst/>
            <a:gdLst/>
            <a:ahLst/>
            <a:cxnLst/>
            <a:rect l="l" t="t" r="r" b="b"/>
            <a:pathLst>
              <a:path w="2034" h="2034" extrusionOk="0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1"/>
          <p:cNvSpPr/>
          <p:nvPr/>
        </p:nvSpPr>
        <p:spPr>
          <a:xfrm flipH="1">
            <a:off x="-358914" y="-85348"/>
            <a:ext cx="588869" cy="588709"/>
          </a:xfrm>
          <a:custGeom>
            <a:avLst/>
            <a:gdLst/>
            <a:ahLst/>
            <a:cxnLst/>
            <a:rect l="l" t="t" r="r" b="b"/>
            <a:pathLst>
              <a:path w="3687" h="3686" extrusionOk="0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1"/>
          <p:cNvSpPr/>
          <p:nvPr/>
        </p:nvSpPr>
        <p:spPr>
          <a:xfrm flipH="1">
            <a:off x="376189" y="503371"/>
            <a:ext cx="166263" cy="151410"/>
          </a:xfrm>
          <a:custGeom>
            <a:avLst/>
            <a:gdLst/>
            <a:ahLst/>
            <a:cxnLst/>
            <a:rect l="l" t="t" r="r" b="b"/>
            <a:pathLst>
              <a:path w="1041" h="948" extrusionOk="0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1"/>
          <p:cNvSpPr/>
          <p:nvPr/>
        </p:nvSpPr>
        <p:spPr>
          <a:xfrm flipH="1">
            <a:off x="8031695" y="4596855"/>
            <a:ext cx="179839" cy="151570"/>
          </a:xfrm>
          <a:custGeom>
            <a:avLst/>
            <a:gdLst/>
            <a:ahLst/>
            <a:cxnLst/>
            <a:rect l="l" t="t" r="r" b="b"/>
            <a:pathLst>
              <a:path w="1126" h="949" extrusionOk="0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1"/>
          <p:cNvSpPr/>
          <p:nvPr/>
        </p:nvSpPr>
        <p:spPr>
          <a:xfrm flipH="1">
            <a:off x="8743755" y="4040320"/>
            <a:ext cx="179999" cy="151889"/>
          </a:xfrm>
          <a:custGeom>
            <a:avLst/>
            <a:gdLst/>
            <a:ahLst/>
            <a:cxnLst/>
            <a:rect l="l" t="t" r="r" b="b"/>
            <a:pathLst>
              <a:path w="1127" h="951" extrusionOk="0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1"/>
          <p:cNvSpPr/>
          <p:nvPr/>
        </p:nvSpPr>
        <p:spPr>
          <a:xfrm flipH="1">
            <a:off x="8536453" y="4646987"/>
            <a:ext cx="207310" cy="191658"/>
          </a:xfrm>
          <a:custGeom>
            <a:avLst/>
            <a:gdLst/>
            <a:ahLst/>
            <a:cxnLst/>
            <a:rect l="l" t="t" r="r" b="b"/>
            <a:pathLst>
              <a:path w="1298" h="1200" extrusionOk="0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1"/>
          <p:cNvSpPr/>
          <p:nvPr/>
        </p:nvSpPr>
        <p:spPr>
          <a:xfrm flipH="1">
            <a:off x="770933" y="4748412"/>
            <a:ext cx="494957" cy="449917"/>
          </a:xfrm>
          <a:custGeom>
            <a:avLst/>
            <a:gdLst/>
            <a:ahLst/>
            <a:cxnLst/>
            <a:rect l="l" t="t" r="r" b="b"/>
            <a:pathLst>
              <a:path w="3099" h="2817" extrusionOk="0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1"/>
          <p:cNvSpPr/>
          <p:nvPr/>
        </p:nvSpPr>
        <p:spPr>
          <a:xfrm flipH="1">
            <a:off x="-312041" y="741505"/>
            <a:ext cx="495117" cy="449917"/>
          </a:xfrm>
          <a:custGeom>
            <a:avLst/>
            <a:gdLst/>
            <a:ahLst/>
            <a:cxnLst/>
            <a:rect l="l" t="t" r="r" b="b"/>
            <a:pathLst>
              <a:path w="3100" h="2817" extrusionOk="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1"/>
          <p:cNvSpPr/>
          <p:nvPr/>
        </p:nvSpPr>
        <p:spPr>
          <a:xfrm rot="-1799986">
            <a:off x="7160187" y="-237909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1"/>
          <p:cNvSpPr/>
          <p:nvPr/>
        </p:nvSpPr>
        <p:spPr>
          <a:xfrm rot="-1799986">
            <a:off x="-1831413" y="23311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1"/>
          <p:cNvSpPr/>
          <p:nvPr/>
        </p:nvSpPr>
        <p:spPr>
          <a:xfrm rot="-1799986">
            <a:off x="6069412" y="342851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1"/>
          <p:cNvSpPr/>
          <p:nvPr/>
        </p:nvSpPr>
        <p:spPr>
          <a:xfrm rot="1799986" flipH="1">
            <a:off x="-2204888" y="3993366"/>
            <a:ext cx="6269639" cy="691908"/>
          </a:xfrm>
          <a:custGeom>
            <a:avLst/>
            <a:gdLst/>
            <a:ahLst/>
            <a:cxnLst/>
            <a:rect l="l" t="t" r="r" b="b"/>
            <a:pathLst>
              <a:path w="52112" h="5751" extrusionOk="0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2300" y="1152475"/>
            <a:ext cx="7679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8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87AF-0F7B-5724-43CC-3EEDA4835B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29854" y="698610"/>
            <a:ext cx="6484292" cy="1066394"/>
          </a:xfrm>
        </p:spPr>
        <p:txBody>
          <a:bodyPr/>
          <a:lstStyle/>
          <a:p>
            <a:r>
              <a:rPr lang="en-US" sz="2800" dirty="0"/>
              <a:t>Performance analysis of ECG signal denoising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0271F-4616-C777-613A-2E6B1610729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96924" y="2041415"/>
            <a:ext cx="6150151" cy="1754409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We test on the </a:t>
            </a:r>
            <a:r>
              <a:rPr lang="en-US" b="1" dirty="0"/>
              <a:t>MIT-BIH Arrhythmia Database</a:t>
            </a:r>
          </a:p>
          <a:p>
            <a:pPr marL="114300" indent="0">
              <a:buNone/>
            </a:pPr>
            <a:r>
              <a:rPr lang="en-US" dirty="0"/>
              <a:t>(MIT-BIHA), and the </a:t>
            </a:r>
            <a:r>
              <a:rPr lang="en-US" b="1" dirty="0"/>
              <a:t>MIT-BIH Normal Sinus Rhythm Database</a:t>
            </a:r>
            <a:r>
              <a:rPr lang="en-US" dirty="0"/>
              <a:t> (MIT-BIH NSR). In some cases, the noise signals are taken from the </a:t>
            </a:r>
            <a:r>
              <a:rPr lang="en-US" b="1" dirty="0"/>
              <a:t>MIT-BIH Noise Stress Test Database</a:t>
            </a:r>
            <a:r>
              <a:rPr lang="en-US" dirty="0"/>
              <a:t> (MIT-BIH NST)</a:t>
            </a:r>
          </a:p>
        </p:txBody>
      </p:sp>
    </p:spTree>
    <p:extLst>
      <p:ext uri="{BB962C8B-B14F-4D97-AF65-F5344CB8AC3E}">
        <p14:creationId xmlns:p14="http://schemas.microsoft.com/office/powerpoint/2010/main" val="261596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CB1E-AEC4-13B3-8B91-69B9987409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4489" y="1486893"/>
            <a:ext cx="4834208" cy="8016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MIT-BIH Arrhythmia database</a:t>
            </a:r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979BDD-0767-AF1C-F51C-4BE13235A1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42854" y="2340373"/>
            <a:ext cx="4717477" cy="8001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MIT-BIH Normal Sinus Rhythm</a:t>
            </a:r>
            <a:endParaRPr lang="en-US" sz="2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64C719-2EF7-5C49-717A-C5C846C404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25" y="3192266"/>
            <a:ext cx="4717477" cy="8001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MIT-BIH Noise Stress Test</a:t>
            </a:r>
            <a:endParaRPr lang="en-US" sz="20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56116A8-B77A-EB66-045B-819EB8C0E5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4490" y="461962"/>
            <a:ext cx="6575020" cy="573088"/>
          </a:xfrm>
        </p:spPr>
        <p:txBody>
          <a:bodyPr/>
          <a:lstStyle/>
          <a:p>
            <a:r>
              <a:rPr lang="en-US" sz="3600" dirty="0"/>
              <a:t>The Databases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7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630" y="667033"/>
            <a:ext cx="7678737" cy="573088"/>
          </a:xfrm>
        </p:spPr>
        <p:txBody>
          <a:bodyPr/>
          <a:lstStyle/>
          <a:p>
            <a:r>
              <a:rPr lang="en-US" sz="2400" dirty="0"/>
              <a:t>Introducing the MIT-BIH Arrhythmia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E0C05-50B1-1639-CCBD-8399468D5E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99225" y="1590532"/>
            <a:ext cx="6945549" cy="221028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The MIT-BIH Arrhythmia database</a:t>
            </a:r>
            <a:r>
              <a:rPr lang="en-US" dirty="0"/>
              <a:t> has 48 records of 30 min each. </a:t>
            </a:r>
          </a:p>
          <a:p>
            <a:r>
              <a:rPr lang="en-US" dirty="0"/>
              <a:t>File.dat: These records were </a:t>
            </a:r>
            <a:r>
              <a:rPr lang="en-US" dirty="0" err="1"/>
              <a:t>digitised</a:t>
            </a:r>
            <a:r>
              <a:rPr lang="en-US" dirty="0"/>
              <a:t> with a sampling frequency of 360 Hz at a resolution of 11 bits per sample over a 10 mV range.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0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1286219" y="605927"/>
            <a:ext cx="65715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440"/>
              </a:buClr>
              <a:buSzPts val="1800"/>
              <a:buFont typeface="Karla"/>
              <a:buChar char="●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File.atr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: Inside this file, the label of each QRS is placed. These labels are specified by two expert doctors. Each symbol has a specific meaning and actually specifies what type of arrhythmia the QRS pattern indicates. </a:t>
            </a:r>
          </a:p>
          <a:p>
            <a:pPr marL="1143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440"/>
              </a:buClr>
              <a:buSzPts val="1800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  <a:p>
            <a:pPr marL="1143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440"/>
              </a:buClr>
              <a:buSzPts val="1800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These can be generally classified into 5 categories:</a:t>
            </a:r>
          </a:p>
          <a:p>
            <a:pPr marL="400050" lvl="1" indent="-285750">
              <a:buClr>
                <a:srgbClr val="010440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10440"/>
                </a:solidFill>
                <a:latin typeface="Karla"/>
                <a:sym typeface="Karla"/>
              </a:rPr>
              <a:t>	(N) non-ectopic beats</a:t>
            </a:r>
          </a:p>
          <a:p>
            <a:pPr marL="400050" lvl="1" indent="-285750">
              <a:buClr>
                <a:srgbClr val="010440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	(s) supraventricular ectopic beats</a:t>
            </a:r>
          </a:p>
          <a:p>
            <a:pPr marL="400050" lvl="1" indent="-285750">
              <a:buClr>
                <a:srgbClr val="010440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10440"/>
                </a:solidFill>
                <a:latin typeface="Karla"/>
                <a:sym typeface="Karla"/>
              </a:rPr>
              <a:t>	(v) ventricular ectopic beats</a:t>
            </a:r>
          </a:p>
          <a:p>
            <a:pPr marL="400050" lvl="3" indent="-285750">
              <a:buClr>
                <a:srgbClr val="010440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	(F) fusion beats</a:t>
            </a:r>
          </a:p>
          <a:p>
            <a:pPr marL="400050" lvl="3" indent="-285750">
              <a:buClr>
                <a:srgbClr val="010440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10440"/>
                </a:solidFill>
                <a:latin typeface="Karla"/>
                <a:sym typeface="Karla"/>
              </a:rPr>
              <a:t>	(U) unclassifiable and paced beats(include noises)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lang="en-US" sz="1800" dirty="0">
              <a:solidFill>
                <a:srgbClr val="010440"/>
              </a:solidFill>
              <a:latin typeface="Karla"/>
              <a:sym typeface="Karla"/>
            </a:endParaRPr>
          </a:p>
          <a:p>
            <a:pPr marL="114300" lvl="3">
              <a:buClr>
                <a:srgbClr val="010440"/>
              </a:buClr>
              <a:buSzPts val="1800"/>
              <a:defRPr/>
            </a:pPr>
            <a:r>
              <a:rPr lang="en-US" sz="1800" dirty="0">
                <a:solidFill>
                  <a:srgbClr val="010440"/>
                </a:solidFill>
                <a:latin typeface="Karla"/>
                <a:sym typeface="Karla"/>
              </a:rPr>
              <a:t>The noises found in the records are BW, MA, PLI, and EM.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198213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900628" y="716096"/>
            <a:ext cx="657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3">
              <a:buClr>
                <a:srgbClr val="010440"/>
              </a:buClr>
              <a:buSzPts val="1800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sign for normal beats: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FB4D15-3045-5C8A-9A73-0602D0DD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22" y="1620083"/>
            <a:ext cx="6360356" cy="174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9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900628" y="716096"/>
            <a:ext cx="657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3">
              <a:buClr>
                <a:srgbClr val="010440"/>
              </a:buClr>
              <a:buSzPts val="1800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sign for supra-ventricular ectopic beats: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2D097-4356-7863-6706-B92A65EE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22" y="1609066"/>
            <a:ext cx="6360356" cy="174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6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900628" y="716096"/>
            <a:ext cx="657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3">
              <a:buClr>
                <a:srgbClr val="010440"/>
              </a:buClr>
              <a:buSzPts val="1800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Ventricular ectopic beats: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1BCF8-52F7-714F-C2C6-660FC2A8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22" y="1697201"/>
            <a:ext cx="6360356" cy="174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2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900628" y="716096"/>
            <a:ext cx="657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3">
              <a:buClr>
                <a:srgbClr val="010440"/>
              </a:buClr>
              <a:buSzPts val="1800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Fusion beats: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56CCC-FE59-9CB6-43AD-D4E9ACCB8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23" y="1697201"/>
            <a:ext cx="6360353" cy="17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9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35B63-05F8-91EB-3D31-B9C3EA515452}"/>
              </a:ext>
            </a:extLst>
          </p:cNvPr>
          <p:cNvSpPr txBox="1"/>
          <p:nvPr/>
        </p:nvSpPr>
        <p:spPr>
          <a:xfrm>
            <a:off x="900628" y="716096"/>
            <a:ext cx="657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3">
              <a:buClr>
                <a:srgbClr val="010440"/>
              </a:buClr>
              <a:buSzPts val="1800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10440"/>
                </a:solidFill>
                <a:effectLst/>
                <a:uLnTx/>
                <a:uFillTx/>
                <a:latin typeface="Karla"/>
                <a:sym typeface="Karla"/>
              </a:rPr>
              <a:t>Unknown beats:</a:t>
            </a:r>
          </a:p>
          <a:p>
            <a:pPr marL="114300" lvl="3">
              <a:buClr>
                <a:srgbClr val="010440"/>
              </a:buClr>
              <a:buSzPts val="1800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10440"/>
              </a:solidFill>
              <a:effectLst/>
              <a:uLnTx/>
              <a:uFillTx/>
              <a:latin typeface="Karla"/>
              <a:sym typeface="Karl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F6D8C-C7A6-9710-917A-049D477D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23" y="1697201"/>
            <a:ext cx="6360353" cy="17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4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E0C05-50B1-1639-CCBD-8399468D5E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99225" y="852402"/>
            <a:ext cx="6945549" cy="2210288"/>
          </a:xfrm>
        </p:spPr>
        <p:txBody>
          <a:bodyPr/>
          <a:lstStyle/>
          <a:p>
            <a:pPr marL="114300" indent="0">
              <a:buNone/>
            </a:pPr>
            <a:r>
              <a:rPr lang="en-US" sz="1800" b="1" dirty="0"/>
              <a:t>The MIT-BIH Normal Sinus Rhythm</a:t>
            </a:r>
            <a:r>
              <a:rPr lang="en-US" dirty="0"/>
              <a:t>  includes 18 long-term</a:t>
            </a:r>
          </a:p>
          <a:p>
            <a:pPr marL="114300" indent="0">
              <a:buNone/>
            </a:pPr>
            <a:r>
              <a:rPr lang="en-US" dirty="0"/>
              <a:t>ECG recordings of subjects not having any significant arrhythmias.</a:t>
            </a:r>
          </a:p>
          <a:p>
            <a:pPr marL="114300" indent="0">
              <a:buNone/>
            </a:pPr>
            <a:r>
              <a:rPr lang="en-US" sz="1800" b="1" dirty="0"/>
              <a:t>The MIT-BIH Noise Stress Test</a:t>
            </a:r>
            <a:r>
              <a:rPr lang="en-US" b="1" dirty="0"/>
              <a:t> </a:t>
            </a:r>
            <a:r>
              <a:rPr lang="en-US" dirty="0"/>
              <a:t>includes 12 30 min ECG recordings and 3 30 min recordings of noise typical in ambulatory ECG recordings.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7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629" y="470968"/>
            <a:ext cx="7678737" cy="573088"/>
          </a:xfrm>
        </p:spPr>
        <p:txBody>
          <a:bodyPr/>
          <a:lstStyle/>
          <a:p>
            <a:r>
              <a:rPr lang="en-US" sz="2400" dirty="0"/>
              <a:t>Performance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5E0C05-50B1-1639-CCBD-8399468D5E85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1099224" y="1320431"/>
                <a:ext cx="6945549" cy="3449873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There are three benchmark metrics for the analysis of different: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RMSE(root-mean-square error):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PRD(percentage-root-mean-square difference):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5E0C05-50B1-1639-CCBD-8399468D5E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099224" y="1320431"/>
                <a:ext cx="6945549" cy="344987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31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631" y="417158"/>
            <a:ext cx="7678737" cy="573088"/>
          </a:xfrm>
        </p:spPr>
        <p:txBody>
          <a:bodyPr/>
          <a:lstStyle/>
          <a:p>
            <a:r>
              <a:rPr lang="en-US" sz="2400" dirty="0"/>
              <a:t>Performance parameters</a:t>
            </a:r>
            <a:br>
              <a:rPr lang="fa-IR" sz="2400" dirty="0"/>
            </a:b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5E0C05-50B1-1639-CCBD-8399468D5E85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1187360" y="1231128"/>
                <a:ext cx="6945549" cy="3208670"/>
              </a:xfrm>
            </p:spPr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imp</m:t>
                        </m:r>
                      </m:sub>
                    </m:sSub>
                  </m:oMath>
                </a14:m>
                <a:r>
                  <a:rPr lang="en-US" dirty="0"/>
                  <a:t>(improvement in signal-to-noise ratio):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imp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̃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SNR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̂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)]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5E0C05-50B1-1639-CCBD-8399468D5E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187360" y="1231128"/>
                <a:ext cx="6945549" cy="32086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27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9924" y="554281"/>
            <a:ext cx="3442759" cy="2656549"/>
          </a:xfrm>
        </p:spPr>
        <p:txBody>
          <a:bodyPr/>
          <a:lstStyle/>
          <a:p>
            <a:r>
              <a:rPr lang="en-US" sz="2400" dirty="0"/>
              <a:t>a pictorial comparison between six promising</a:t>
            </a:r>
            <a:r>
              <a:rPr lang="fa-IR" sz="2400" dirty="0"/>
              <a:t> </a:t>
            </a:r>
            <a:r>
              <a:rPr lang="en-US" sz="2400" dirty="0"/>
              <a:t>methods of ECG</a:t>
            </a:r>
            <a:r>
              <a:rPr lang="fa-IR" sz="2400" dirty="0"/>
              <a:t> </a:t>
            </a:r>
            <a:r>
              <a:rPr lang="en-US" sz="2400" dirty="0"/>
              <a:t>denoising</a:t>
            </a:r>
            <a:r>
              <a:rPr lang="fa-IR" sz="2400" dirty="0"/>
              <a:t>:</a:t>
            </a:r>
            <a:br>
              <a:rPr lang="fa-IR" sz="2400" dirty="0"/>
            </a:br>
            <a:br>
              <a:rPr lang="fa-IR" sz="2400" dirty="0"/>
            </a:br>
            <a:r>
              <a:rPr lang="en-US" sz="2400" dirty="0"/>
              <a:t>ECG denoising using EEMD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67D45-ABCC-6F2F-F2BE-98E7F1BC2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5" t="19477" r="47711" b="8090"/>
          <a:stretch/>
        </p:blipFill>
        <p:spPr>
          <a:xfrm>
            <a:off x="4043188" y="554281"/>
            <a:ext cx="4572001" cy="40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21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1958" y="1139450"/>
            <a:ext cx="3442759" cy="2656549"/>
          </a:xfrm>
        </p:spPr>
        <p:txBody>
          <a:bodyPr/>
          <a:lstStyle/>
          <a:p>
            <a:r>
              <a:rPr lang="en-US" sz="2400" dirty="0"/>
              <a:t>ECG denoising using FCN-based DAE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B4976-B93F-0C12-0300-97AF59A44E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" t="19262" r="49999" b="19664"/>
          <a:stretch/>
        </p:blipFill>
        <p:spPr>
          <a:xfrm>
            <a:off x="3907715" y="560508"/>
            <a:ext cx="5236285" cy="402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8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1958" y="1139450"/>
            <a:ext cx="3442759" cy="2656549"/>
          </a:xfrm>
        </p:spPr>
        <p:txBody>
          <a:bodyPr/>
          <a:lstStyle/>
          <a:p>
            <a:r>
              <a:rPr lang="en-US" sz="2400" dirty="0"/>
              <a:t>ECG denoising using DWT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11900-C124-F119-19AE-04F0A45FB9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64" t="20567" r="17108" b="35084"/>
          <a:stretch/>
        </p:blipFill>
        <p:spPr>
          <a:xfrm>
            <a:off x="3988106" y="619669"/>
            <a:ext cx="4731734" cy="36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1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1958" y="1139450"/>
            <a:ext cx="3442759" cy="2656549"/>
          </a:xfrm>
        </p:spPr>
        <p:txBody>
          <a:bodyPr/>
          <a:lstStyle/>
          <a:p>
            <a:r>
              <a:rPr lang="en-US" sz="2400" dirty="0"/>
              <a:t>ECG denoising using sparsity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9A2F5-3C2F-FDF0-0DA0-9FEAE9A963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47" t="21756" r="51446" b="26186"/>
          <a:stretch/>
        </p:blipFill>
        <p:spPr>
          <a:xfrm>
            <a:off x="3907715" y="650928"/>
            <a:ext cx="5236285" cy="363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BA6-D9BB-C9F1-9A29-0CACD06330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1958" y="1139450"/>
            <a:ext cx="3222423" cy="2656549"/>
          </a:xfrm>
        </p:spPr>
        <p:txBody>
          <a:bodyPr/>
          <a:lstStyle/>
          <a:p>
            <a:r>
              <a:rPr lang="en-US" sz="2400" dirty="0"/>
              <a:t>ECG denoising using WNN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D09FD-AD27-CB1B-3008-897546341F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70" t="34691" r="30723" b="18378"/>
          <a:stretch/>
        </p:blipFill>
        <p:spPr>
          <a:xfrm>
            <a:off x="3646582" y="590122"/>
            <a:ext cx="5409283" cy="341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69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D4281-3C10-14A1-8DBD-6D135910FBA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82207" y="1062369"/>
            <a:ext cx="7777899" cy="3785051"/>
          </a:xfrm>
        </p:spPr>
        <p:txBody>
          <a:bodyPr/>
          <a:lstStyle/>
          <a:p>
            <a:r>
              <a:rPr lang="en-US" dirty="0"/>
              <a:t>in the presence of </a:t>
            </a:r>
            <a:r>
              <a:rPr lang="en-US" b="1" dirty="0"/>
              <a:t>AWGN</a:t>
            </a:r>
            <a:r>
              <a:rPr lang="en-US" dirty="0"/>
              <a:t> on MIT-BIH databases: Techniques such as wavelet-VBE, GAN2, new MP-EKF, SDCST, GSSSA, and EMD-MAF have superior performance.</a:t>
            </a:r>
          </a:p>
          <a:p>
            <a:r>
              <a:rPr lang="en-US" dirty="0"/>
              <a:t>in the presence of </a:t>
            </a:r>
            <a:r>
              <a:rPr lang="en-US" b="1" dirty="0"/>
              <a:t>MA</a:t>
            </a:r>
            <a:r>
              <a:rPr lang="en-US" dirty="0"/>
              <a:t> on MIT-BIH databases: DLSR, new MP-EKF and GAN1 have the best performances.</a:t>
            </a:r>
          </a:p>
          <a:p>
            <a:r>
              <a:rPr lang="en-US" dirty="0"/>
              <a:t>in the presence of </a:t>
            </a:r>
            <a:r>
              <a:rPr lang="en-US" b="1" dirty="0"/>
              <a:t>BW</a:t>
            </a:r>
            <a:r>
              <a:rPr lang="en-US" dirty="0"/>
              <a:t> and </a:t>
            </a:r>
            <a:r>
              <a:rPr lang="en-US" b="1" dirty="0"/>
              <a:t>EM</a:t>
            </a:r>
            <a:r>
              <a:rPr lang="en-US" dirty="0"/>
              <a:t> on MIT-BIH databases: GAN1 is very effective. </a:t>
            </a:r>
          </a:p>
          <a:p>
            <a:r>
              <a:rPr lang="en-US" dirty="0"/>
              <a:t>in the presence of </a:t>
            </a:r>
            <a:r>
              <a:rPr lang="en-US" b="1" dirty="0"/>
              <a:t>PLI</a:t>
            </a:r>
            <a:r>
              <a:rPr lang="en-US" dirty="0"/>
              <a:t> on MIT-BIH databases: EWT and DLSR are the most efficient.</a:t>
            </a:r>
          </a:p>
          <a:p>
            <a:r>
              <a:rPr lang="en-US" dirty="0"/>
              <a:t>in the presence of </a:t>
            </a:r>
            <a:r>
              <a:rPr lang="en-US" b="1" dirty="0"/>
              <a:t>CN</a:t>
            </a:r>
            <a:r>
              <a:rPr lang="en-US" dirty="0"/>
              <a:t> on MIT-BIH databases: Soft DWT (Sym6), MABWT (soft), scattering CPSD, and DAE-based FCN show promising results. Among DAE-based denoisers, DAE-based FCN is preferred for the combination of EM, BW, and MA noises.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0B1B7C-9B67-1E13-A23E-C1573C5E3A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2207" y="296080"/>
            <a:ext cx="7579586" cy="573088"/>
          </a:xfrm>
        </p:spPr>
        <p:txBody>
          <a:bodyPr/>
          <a:lstStyle/>
          <a:p>
            <a:r>
              <a:rPr lang="en-US" sz="2800" dirty="0"/>
              <a:t>Performance of various methodologies</a:t>
            </a:r>
          </a:p>
        </p:txBody>
      </p:sp>
    </p:spTree>
    <p:extLst>
      <p:ext uri="{BB962C8B-B14F-4D97-AF65-F5344CB8AC3E}">
        <p14:creationId xmlns:p14="http://schemas.microsoft.com/office/powerpoint/2010/main" val="827562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0AB01-35A3-E6EE-3246-8741DE3794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1" t="19789" r="11205" b="5393"/>
          <a:stretch/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75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866C6D-B596-3E54-6334-6B01977F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91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86786-3086-B19B-ED95-333DB97A3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58" t="19048" r="12048" b="5520"/>
          <a:stretch/>
        </p:blipFill>
        <p:spPr>
          <a:xfrm>
            <a:off x="0" y="0"/>
            <a:ext cx="91271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46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C685B-A544-4812-2537-D6881CB4B9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93" t="19690" r="11446" b="44308"/>
          <a:stretch/>
        </p:blipFill>
        <p:spPr>
          <a:xfrm>
            <a:off x="0" y="925417"/>
            <a:ext cx="9144000" cy="257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22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01E3B-6FBF-CBF7-67E1-F7547068BB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43" t="19691" r="11686" b="29092"/>
          <a:stretch/>
        </p:blipFill>
        <p:spPr>
          <a:xfrm>
            <a:off x="15027" y="771180"/>
            <a:ext cx="9128973" cy="359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15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8BE40-A8FC-7598-08A2-D01B97B200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0" t="20762" r="11446" b="46022"/>
          <a:stretch/>
        </p:blipFill>
        <p:spPr>
          <a:xfrm>
            <a:off x="1" y="1123720"/>
            <a:ext cx="9144000" cy="25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02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EA38B-3159-FB75-948F-1C2D26660B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39" t="56335" r="12531" b="7235"/>
          <a:stretch/>
        </p:blipFill>
        <p:spPr>
          <a:xfrm>
            <a:off x="-682" y="1150574"/>
            <a:ext cx="9144682" cy="284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43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5ECFE-7034-86E1-0F4E-A00B25218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77" t="20761" r="11205" b="45595"/>
          <a:stretch/>
        </p:blipFill>
        <p:spPr>
          <a:xfrm>
            <a:off x="10174" y="991518"/>
            <a:ext cx="9123652" cy="282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07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9BB5D-0D00-1900-41D4-CEC0368F92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77" t="55049" r="11205" b="13021"/>
          <a:stretch/>
        </p:blipFill>
        <p:spPr>
          <a:xfrm>
            <a:off x="9245" y="1057620"/>
            <a:ext cx="9125515" cy="265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61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9002C-E54D-8735-E544-4354071520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96" t="22924" r="11347" b="31870"/>
          <a:stretch/>
        </p:blipFill>
        <p:spPr>
          <a:xfrm>
            <a:off x="-6160" y="848298"/>
            <a:ext cx="9137420" cy="34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02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DE5AC-9B42-1BB4-FAAF-812B9606E6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58" t="32549" r="11446" b="38522"/>
          <a:stretch/>
        </p:blipFill>
        <p:spPr>
          <a:xfrm>
            <a:off x="0" y="1365403"/>
            <a:ext cx="9126377" cy="24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60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97BC0-6653-9E89-3E0C-0A7C2E883A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66" t="19477" r="22048" b="10235"/>
          <a:stretch/>
        </p:blipFill>
        <p:spPr>
          <a:xfrm>
            <a:off x="912694" y="14219"/>
            <a:ext cx="7318611" cy="512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2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5DC0-3369-8ABA-0502-B60D13E586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77206" y="836020"/>
            <a:ext cx="5589588" cy="70485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9CA05-8D69-68B0-F594-EDFBFD93356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95387" y="1860358"/>
            <a:ext cx="6753225" cy="1931988"/>
          </a:xfrm>
        </p:spPr>
        <p:txBody>
          <a:bodyPr/>
          <a:lstStyle/>
          <a:p>
            <a:pPr marL="114300" indent="0" algn="ctr">
              <a:buNone/>
            </a:pPr>
            <a:r>
              <a:rPr lang="en-US" dirty="0"/>
              <a:t>It concludes that different techniques are effective for different types of noise and that combined approaches can provide better performance, emphasizing the need for further research into newer denoising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1766985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26C90-0C61-C6F4-34B3-324D1115C95F}"/>
              </a:ext>
            </a:extLst>
          </p:cNvPr>
          <p:cNvSpPr txBox="1"/>
          <p:nvPr/>
        </p:nvSpPr>
        <p:spPr>
          <a:xfrm>
            <a:off x="1867711" y="1488332"/>
            <a:ext cx="48443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MIT-BIH Normal Sinus Rhythm </a:t>
            </a:r>
            <a:r>
              <a:rPr lang="en-US" dirty="0"/>
              <a:t>database includes 18 long-term ECG recordings of subjects not having any significant arrhythmias.</a:t>
            </a:r>
          </a:p>
          <a:p>
            <a:r>
              <a:rPr lang="en-US" b="1" dirty="0"/>
              <a:t>The MIT-BIH Noise Stress Test</a:t>
            </a:r>
            <a:r>
              <a:rPr lang="en-US" dirty="0"/>
              <a:t> database includes 12 30 min ECG recordings and 3 30 min recordings of noise typical in ambulatory ECG recordings.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496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55136-D862-119B-390B-43C8136BDDD8}"/>
              </a:ext>
            </a:extLst>
          </p:cNvPr>
          <p:cNvSpPr txBox="1"/>
          <p:nvPr/>
        </p:nvSpPr>
        <p:spPr>
          <a:xfrm>
            <a:off x="795402" y="194176"/>
            <a:ext cx="7553195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Refrences</a:t>
            </a:r>
            <a:endParaRPr lang="en-US" sz="1800" dirty="0"/>
          </a:p>
          <a:p>
            <a:endParaRPr lang="en-US" sz="1500" dirty="0"/>
          </a:p>
          <a:p>
            <a:pPr marL="342900" indent="-342900">
              <a:buAutoNum type="arabicPeriod"/>
            </a:pPr>
            <a:r>
              <a:rPr lang="en-US" sz="1500" dirty="0"/>
              <a:t>Xiong, P., Wang, H., Liu, M., et al.: ‘ECG signal enhancement based on improved denoising auto-encoder’, Eng. Appl. </a:t>
            </a:r>
            <a:r>
              <a:rPr lang="en-US" sz="1500" dirty="0" err="1"/>
              <a:t>Artif</a:t>
            </a:r>
            <a:r>
              <a:rPr lang="en-US" sz="1500" dirty="0"/>
              <a:t>. </a:t>
            </a:r>
            <a:r>
              <a:rPr lang="en-US" sz="1500" dirty="0" err="1"/>
              <a:t>Intell</a:t>
            </a:r>
            <a:r>
              <a:rPr lang="en-US" sz="1500" dirty="0"/>
              <a:t>., 2016</a:t>
            </a:r>
          </a:p>
          <a:p>
            <a:pPr marL="342900" indent="-342900">
              <a:buAutoNum type="arabicPeriod"/>
            </a:pPr>
            <a:r>
              <a:rPr lang="en-US" sz="1500" dirty="0"/>
              <a:t>Chang, K.M.: ‘Arrhythmia ECG noise reduction by ensemble empirical mode decomposition’, Sensors, 2010</a:t>
            </a:r>
          </a:p>
          <a:p>
            <a:pPr marL="342900" indent="-342900">
              <a:buAutoNum type="arabicPeriod"/>
            </a:pPr>
            <a:r>
              <a:rPr lang="en-US" sz="1500" dirty="0"/>
              <a:t>Huang et al.: ‘The empirical mode decomposition and the Hilbert spectrum for nonlinear and non-stationary time series analysis’, 1998</a:t>
            </a:r>
          </a:p>
          <a:p>
            <a:pPr marL="342900" indent="-342900">
              <a:buAutoNum type="arabicPeriod"/>
            </a:pPr>
            <a:r>
              <a:rPr lang="en-US" sz="1500" dirty="0"/>
              <a:t>Singh, O., </a:t>
            </a:r>
            <a:r>
              <a:rPr lang="en-US" sz="1500" dirty="0" err="1"/>
              <a:t>Sunkaria</a:t>
            </a:r>
            <a:r>
              <a:rPr lang="en-US" sz="1500" dirty="0"/>
              <a:t>, R.K.: ‘ECG signal denoising via empirical wavelet transform’, </a:t>
            </a:r>
            <a:r>
              <a:rPr lang="en-US" sz="1500" dirty="0" err="1"/>
              <a:t>Australas</a:t>
            </a:r>
            <a:r>
              <a:rPr lang="en-US" sz="1500" dirty="0"/>
              <a:t>. Phys. Eng. Sci. Med., 2017,</a:t>
            </a:r>
          </a:p>
          <a:p>
            <a:pPr marL="342900" indent="-342900">
              <a:buAutoNum type="arabicPeriod"/>
            </a:pPr>
            <a:r>
              <a:rPr lang="en-US" sz="1500" dirty="0" err="1"/>
              <a:t>Rakshit</a:t>
            </a:r>
            <a:r>
              <a:rPr lang="en-US" sz="1500" dirty="0"/>
              <a:t>, M., Das, S.: ‘Hybrid approach for ECG signal enhancement using dictionary learning-based sparse representation’, IET Sci. Meas. Technol., 2019,</a:t>
            </a:r>
          </a:p>
          <a:p>
            <a:pPr marL="342900" indent="-342900">
              <a:buAutoNum type="arabicPeriod"/>
            </a:pPr>
            <a:r>
              <a:rPr lang="en-US" sz="1500" dirty="0"/>
              <a:t>Zhu, J., Li, X.: ‘Electrocardiograph signal denoising based on sparse decomposition’, </a:t>
            </a:r>
            <a:r>
              <a:rPr lang="en-US" sz="1500" dirty="0" err="1"/>
              <a:t>Healthc</a:t>
            </a:r>
            <a:r>
              <a:rPr lang="en-US" sz="1500" dirty="0"/>
              <a:t>. Technol. Lett., 2017</a:t>
            </a:r>
          </a:p>
          <a:p>
            <a:pPr marL="342900" indent="-342900">
              <a:buAutoNum type="arabicPeriod"/>
            </a:pPr>
            <a:r>
              <a:rPr lang="en-US" sz="1500" dirty="0"/>
              <a:t>Lu, Y., Yan, J., Yam, Y.: ‘Model-based ECG denoising using empirical mode decomposition’. 2009 IEEE Int. Conf. on Bioinformatics and Biomedicine, Washington, DC, 2009</a:t>
            </a:r>
          </a:p>
          <a:p>
            <a:pPr marL="342900" indent="-342900">
              <a:buAutoNum type="arabicPeriod"/>
            </a:pPr>
            <a:r>
              <a:rPr lang="en-US" sz="1500" dirty="0"/>
              <a:t>Li, N., Li, P.: ‘An improved algorithm based on EMD-wavelet for ECG signal de-noising’. 2009 Int. Joint Conf. on Computational Sciences and Optimization, Sanya, Hainan, 2009</a:t>
            </a:r>
          </a:p>
        </p:txBody>
      </p:sp>
    </p:spTree>
    <p:extLst>
      <p:ext uri="{BB962C8B-B14F-4D97-AF65-F5344CB8AC3E}">
        <p14:creationId xmlns:p14="http://schemas.microsoft.com/office/powerpoint/2010/main" val="1915798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6"/>
          <p:cNvSpPr txBox="1">
            <a:spLocks noGrp="1"/>
          </p:cNvSpPr>
          <p:nvPr>
            <p:ph type="title"/>
          </p:nvPr>
        </p:nvSpPr>
        <p:spPr>
          <a:xfrm>
            <a:off x="1509150" y="1884450"/>
            <a:ext cx="61257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Thanks!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vascular Diseases: Arrhythmia by Slidesgo">
  <a:themeElements>
    <a:clrScheme name="Simple Light">
      <a:dk1>
        <a:srgbClr val="010440"/>
      </a:dk1>
      <a:lt1>
        <a:srgbClr val="F2F2F2"/>
      </a:lt1>
      <a:dk2>
        <a:srgbClr val="9E9E9E"/>
      </a:dk2>
      <a:lt2>
        <a:srgbClr val="D93B48"/>
      </a:lt2>
      <a:accent1>
        <a:srgbClr val="A2293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4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24690</TotalTime>
  <Words>828</Words>
  <Application>Microsoft Office PowerPoint</Application>
  <PresentationFormat>On-screen Show (16:9)</PresentationFormat>
  <Paragraphs>74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Karla</vt:lpstr>
      <vt:lpstr>Cambria Math</vt:lpstr>
      <vt:lpstr>Arial</vt:lpstr>
      <vt:lpstr>Outfit ExtraBold</vt:lpstr>
      <vt:lpstr>Cardiovascular Diseases: Arrhythmia by Slidesgo</vt:lpstr>
      <vt:lpstr>Performance analysis of ECG signal denoising techniques</vt:lpstr>
      <vt:lpstr>The MIT-BIH Arrhythmia database  </vt:lpstr>
      <vt:lpstr>Introducing the MIT-BIH Arrhythmia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parameters</vt:lpstr>
      <vt:lpstr>Performance parameters </vt:lpstr>
      <vt:lpstr>a pictorial comparison between six promising methods of ECG denoising:  ECG denoising using EEMD </vt:lpstr>
      <vt:lpstr>ECG denoising using FCN-based DAE</vt:lpstr>
      <vt:lpstr>ECG denoising using DWT</vt:lpstr>
      <vt:lpstr>ECG denoising using sparsity</vt:lpstr>
      <vt:lpstr>ECG denoising using WNN</vt:lpstr>
      <vt:lpstr>Performance of various methodologies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Electrocardiogram: ECG/EKG </dc:title>
  <cp:lastModifiedBy>ASUS</cp:lastModifiedBy>
  <cp:revision>30</cp:revision>
  <dcterms:modified xsi:type="dcterms:W3CDTF">2024-07-09T16:21:54Z</dcterms:modified>
</cp:coreProperties>
</file>